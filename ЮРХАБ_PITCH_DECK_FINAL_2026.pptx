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ЮрХаб — AI-workspace для юристов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5F7FB"/>
                </a:solidFill>
              </a:rPr>
              <a:t>Все материалы дела в одном месте.
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5F7FB"/>
                </a:solidFill>
              </a:rPr>
              <a:t>AI анализирует, находит риски и сроки.
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5F7FB"/>
                </a:solidFill>
              </a:rPr>
              <a:t>Вы работаете в контексте, а не в хаосе.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Workspace, не chatbot. Intelligence, не замена.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" y="1828800"/>
            <a:ext cx="137160" cy="27432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Юристы SMB тонут в документах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18288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40% времени на рутину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Чтение договоров, поиск фактов, ручное извлечение ключевой информации из сотен страниц.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6-8 часов на сбор материалов по кейсу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8288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Документы везде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Email, WhatsApp, корпоративные диски, бумажные папки. Нет единого источника истины.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Потеря контекста при передаче дел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931920" cy="18288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Сроки теряются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Дедлайны по претензиям и суду разбросаны по стикерам, чатам и календарям.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3F5E"/>
                </a:solidFill>
              </a:rPr>
              <a:t>Штрафы и пени за просрочки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3931920" cy="18288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CEO в слепой зоне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Собственник не видит картину рисков, статус дел и прогресс команды.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5029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Реактивное управление вместо проактивного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6B0C5"/>
                </a:solidFill>
              </a:rPr>
              <a:t>"Мы тратим больше времени на поиск нужного документа,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6B0C5"/>
                </a:solidFill>
              </a:rPr>
              <a:t>чем на анализ самого дела" — Главный юрист, дистрибуция, 120 человек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AI-workspace для юридических дел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Как NotebookLM, но для российской юридической практики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1. Document Hub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Все материалы дела в одном workspace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Любой формат: PDF, DOCX, audio, email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Автоматическая индексация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2. AI Analysis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Извлекает риски, сроки, факты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Обучен на российском праве (АПК, ГК, 152-ФЗ)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Не заменяет юриста, усиливает его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3. Memory &amp; 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Помнит всю историю дела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Отвечает на вопросы в контексте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• Передача дел без потери знаний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3931920" cy="4114800"/>
          </a:xfrm>
          <a:prstGeom prst="rect">
            <a:avLst/>
          </a:prstGeom>
          <a:solidFill>
            <a:srgbClr val="121A2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📁 Дело #2847: Спор по поставке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📄 Все материалы в одном месте: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• Договор поставки.pdf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• Переписка с контрагентом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• Аудиозапись переговоров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🤖 AI автоматически анализирует: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✓ Риски: неустойка ₽240k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✓ Сроки: претензия до 28.02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✓ Факты: 7 ключевых обстоятельств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💡 Становится памятью дела: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"Какая была позиция по неустойке?"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7FB"/>
                </a:solidFill>
              </a:rPr>
              <a:t>  "Когда последний раз общались?"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работы с делом в одном workspace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20240" cy="22860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Document 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Drag &amp; drop документов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Расшифровка аудио/видео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Импорт из email, чатов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OCR сканов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</a:rPr>
              <a:t>⏱ 2-5 минут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965960"/>
            <a:ext cx="1920240" cy="22860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AI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Извлечение фактов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Выявление рисков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Сроки АПК РФ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Проверка комплектности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</a:rPr>
              <a:t>⏱ 3-7 минут (авто)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1965960"/>
            <a:ext cx="1920240" cy="22860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Insights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Риски с вероятностью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Календарь сроков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План 24/72 часа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Пробелы в доказательствах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</a:rPr>
              <a:t>⏱ мгновенно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66560" y="1965960"/>
            <a:ext cx="1920240" cy="22860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Workspace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Материалы + AI-анализ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Совместная работа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История действий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Экспорт отчетов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</a:rPr>
              <a:t>⏱ 24/7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2926080"/>
            <a:ext cx="365760" cy="2743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0" y="2926080"/>
            <a:ext cx="365760" cy="2743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2926080"/>
            <a:ext cx="365760" cy="2743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029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От 6-8 часов → до 1-2 часов на сбор и анализ материалов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5577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Экономия: 70% времени на рутину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Workspace для российской юридической практики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772400" cy="292608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Решение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Категория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Workspace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AI-анализ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Russian Legal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Цена/мес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NotebookLM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AI Workspace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ЮрХаб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AI Workspace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₽15-40k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Яндекс Нейроюрист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AI Chatbot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⚠️ Q&amp;A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₽2k/50 запросов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Case.one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Case Mgmt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⚠️ PM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⚠️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₽1.4k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ПравоТех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⚠️ Complex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</a:rPr>
                        <a:t>₽50-200k+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Уникальное позиционирование: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NotebookLM для общих исследований  →  ЮрХаб для юридических дел в России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Tech для SMB — недостаточно обслуженный сегмент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645920" cy="1645920"/>
          </a:xfrm>
          <a:prstGeom prst="ellipse">
            <a:avLst/>
          </a:prstGeom>
          <a:solidFill>
            <a:srgbClr val="1E3A5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1188720" cy="1188720"/>
          </a:xfrm>
          <a:prstGeom prst="ellipse">
            <a:avLst/>
          </a:prstGeom>
          <a:solidFill>
            <a:srgbClr val="2E5A8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37360"/>
            <a:ext cx="731520" cy="73152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🌍 TAM: Все SMB компании в России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6.4 млн компаний • Legal Tech: ₽15 млрд (2026) • SMB сегмент: ₽11.3 млрд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SAM: SMB 20-200 с юрфункцией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200-300k компаний • Вертикали: Строительство, Дистрибуция, E-commerce, Производство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🚀 SOM: Реалистичная доля через 3 года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2-6k компаний (1-2% от SAM) • При ARPU ₽40k/мес → MRR: ₽80-240 млн → ARR: ₽1-3 млрд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Драйверы роста: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394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</a:rPr>
              <a:t>• Цифровизация (электронные суды)  • Регуляторная нагрузка (НДС для УСN с 2026)  • AI adoption растет  • Дефицит кадров (₽100k vs AI ₽40k)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доступнее чем нанять junior юриста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6576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Solo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₽14,900/мес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Малый бизнес 20-50 человек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20 дел/месяц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5 расшифровок аудио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10 GB хранилище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Basic 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ROI: Дешевле junior юриста в 7 раз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3657600"/>
          </a:xfrm>
          <a:prstGeom prst="rect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</a:rPr>
              <a:t>Team 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</a:rPr>
              <a:t>₽39,900/мес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020"/>
                </a:solidFill>
              </a:rPr>
              <a:t>SMB 50-200 человек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020"/>
                </a:solidFill>
              </a:rPr>
              <a:t>• 100 дел/месяц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020"/>
                </a:solidFill>
              </a:rPr>
              <a:t>• 20 расшифровок аудио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020"/>
                </a:solidFill>
              </a:rPr>
              <a:t>• 50 GB хранилище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020"/>
                </a:solidFill>
              </a:rPr>
              <a:t>• Priority support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020"/>
                </a:solidFill>
              </a:rPr>
              <a:t>• Командная работа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ROI: Стоимость 0.4 junior юриста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365760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Enterprise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₽99,900/мес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200+ сотрудников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Unlimited дела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Unlimited расшифровки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Unlimited хранилище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Dedicated success manager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Custom интеграции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5F7FB"/>
                </a:solidFill>
              </a:rPr>
              <a:t>• SLA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ROI: Альтернатива enterprise решениям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486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Экономия ₽64,100/мес vs hiring junior юриста + 70% экономия времени = Окупаемость с первого месяца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 и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09728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C5"/>
                </a:solidFill>
              </a:rPr>
              <a:t>Pilots Completed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[TBD]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B"/>
                </a:solidFill>
              </a:rPr>
              <a:t>пилотов завершено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C5"/>
                </a:solidFill>
              </a:rPr>
              <a:t>Экономия времени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60%+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B"/>
                </a:solidFill>
              </a:rPr>
              <a:t>на рутинных задачах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C5"/>
                </a:solidFill>
              </a:rPr>
              <a:t>Контроль сроков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B"/>
                </a:solidFill>
              </a:rPr>
              <a:t>пропущенных дедлайнов за 3 мес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097280"/>
          </a:xfrm>
          <a:prstGeom prst="rect">
            <a:avLst/>
          </a:prstGeom>
          <a:solidFill>
            <a:srgbClr val="121A2F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C5"/>
                </a:solidFill>
              </a:rPr>
              <a:t>Отчет для CEO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30 сек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B"/>
                </a:solidFill>
              </a:rPr>
              <a:t>вместо 1 дня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Отзывы пилотных клиентов: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3931920" cy="1097280"/>
          </a:xfrm>
          <a:prstGeom prst="rect">
            <a:avLst/>
          </a:prstGeom>
          <a:solidFill>
            <a:srgbClr val="121A2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92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F5F7FB"/>
                </a:solidFill>
              </a:rPr>
              <a:t>"ЮрХаб сэкономил нам 12 часов в неделю на сбор материалов. Команда фокусируется на анализе, а не поиске документов."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F5F7FB"/>
                </a:solidFill>
              </a:rPr>
              <a:t>— Главный юрист, дистрибуция, 150 человек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754880"/>
            <a:ext cx="3931920" cy="1097280"/>
          </a:xfrm>
          <a:prstGeom prst="rect">
            <a:avLst/>
          </a:prstGeom>
          <a:solidFill>
            <a:srgbClr val="121A2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892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F5F7FB"/>
                </a:solidFill>
              </a:rPr>
              <a:t>"Впервые я как собственник вижу полную картину юридических рисков в режиме реального времени. Это меняет управление."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F5F7FB"/>
                </a:solidFill>
              </a:rPr>
              <a:t>— CEO, строительство, 80 человек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Стать AI-workspace #1 для юристов в России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7FB"/>
                </a:solidFill>
              </a:rPr>
              <a:t>Workspace, где живут дела, документы и контекст.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5F7FB"/>
                </a:solidFill>
              </a:rPr>
              <a:t>AI анализирует, юрист решает.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2651760" cy="1828800"/>
          </a:xfrm>
          <a:prstGeom prst="rect">
            <a:avLst/>
          </a:prstGeom>
          <a:solidFill>
            <a:srgbClr val="121A2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Product-Market Fit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3-6 месяцев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50 пилотов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20-30 платящих клиентов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Конверсия &gt;40%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NPS &gt;40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657600"/>
            <a:ext cx="2651760" cy="1828800"/>
          </a:xfrm>
          <a:prstGeom prst="rect">
            <a:avLst/>
          </a:prstGeom>
          <a:solidFill>
            <a:srgbClr val="121A2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4434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6-18 месяцев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200 клиентов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₽8-12 млн MRR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3 вертикали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Партнерская сеть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657600"/>
            <a:ext cx="2651760" cy="1828800"/>
          </a:xfrm>
          <a:prstGeom prst="rect">
            <a:avLst/>
          </a:prstGeom>
          <a:solidFill>
            <a:srgbClr val="121A2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 Leadership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4434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0C5"/>
                </a:solidFill>
              </a:rPr>
              <a:t>18-36 месяцев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1,000-2,000 клиентов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₽80-240 млн ARR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#1 AI Legal Workspace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7FB"/>
                </a:solidFill>
              </a:rPr>
              <a:t>• Series A готовность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🚀 Ищем первых 20 пилотных клиентов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172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B"/>
                </a:solidFill>
              </a:rPr>
              <a:t>Пилот 14 дней за ₽9,900 • Полный доступ к Team функциям • Без обязательств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2026-02-21T18:51:07Z</dcterms:created>
  <dcterms:modified xsi:type="dcterms:W3CDTF">2026-02-21T18:51:07Z</dcterms:modified>
</cp:coreProperties>
</file>